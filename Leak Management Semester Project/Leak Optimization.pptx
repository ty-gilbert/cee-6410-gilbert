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DM Sans Medium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erriweather-boldItalic.fntdata"/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DMSansMedium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DMSansMedium-italic.fntdata"/><Relationship Id="rId16" Type="http://schemas.openxmlformats.org/officeDocument/2006/relationships/font" Target="fonts/DMSansMedium-bold.fntdata"/><Relationship Id="rId19" Type="http://schemas.openxmlformats.org/officeDocument/2006/relationships/font" Target="fonts/Lato-regular.fntdata"/><Relationship Id="rId18" Type="http://schemas.openxmlformats.org/officeDocument/2006/relationships/font" Target="fonts/DM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42020568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4202056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420205681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42020568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3390/smartcities8040122" TargetMode="External"/><Relationship Id="rId4" Type="http://schemas.openxmlformats.org/officeDocument/2006/relationships/hyperlink" Target="http://dcmplumbing.com.au" TargetMode="External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Minimizing Costs of Municipal Water Distribution Leak Repair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972825" y="4230514"/>
            <a:ext cx="10250700" cy="168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Utah State University, CEE5410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December 04,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Ty Gilbert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ty.gilbert@usu.edu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669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04875" y="2224087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Aging Infrastructure: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High failure rates in legacy systems.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3148012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Water Scarcity: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Non-Revenue Water loss is unsustainable.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4071937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Budget Gaps: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Cannot afford to inspect 100% of pipes.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4995862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Reactive Trap: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Inefficient "fix-it-when-it-breaks" mindset.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128837"/>
            <a:ext cx="142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052762"/>
            <a:ext cx="142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976687"/>
            <a:ext cx="142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900612"/>
            <a:ext cx="142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5">
            <a:alphaModFix/>
          </a:blip>
          <a:srcRect b="19489" l="0" r="0" t="33704"/>
          <a:stretch/>
        </p:blipFill>
        <p:spPr>
          <a:xfrm>
            <a:off x="6280000" y="2166925"/>
            <a:ext cx="5147550" cy="320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200" y="2017900"/>
            <a:ext cx="3492549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9499" y="2017900"/>
            <a:ext cx="3492549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17799" y="2017900"/>
            <a:ext cx="3492549" cy="44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57219" y="3265675"/>
            <a:ext cx="290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 (MILP)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46950" y="3941950"/>
            <a:ext cx="29211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Binary decision logic (0/1) for every pipe: To Inspect or Not? To Repair or Not?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920529" y="3265675"/>
            <a:ext cx="273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Acoustic Inspection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825249" y="3941950"/>
            <a:ext cx="29211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Deploying acoustic sensors to proactively detect hidden leaks before catastrophic failure.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113880" y="3265675"/>
            <a:ext cx="19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Capacity Rule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03549" y="3941950"/>
            <a:ext cx="29211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Critical Constraint: Leaks steal pipe capacity. Repairs are forced to ensure delivery.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6425" y="245605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47575" y="24560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5874" y="24560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Approach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905000" y="1771650"/>
            <a:ext cx="8953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Smart Budget Allocation</a:t>
            </a:r>
            <a:r>
              <a:rPr b="0" i="0" lang="en-US" sz="2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Funds are automatically directed to high-consequence leaks.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905000" y="3305175"/>
            <a:ext cx="8953500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Guaranteed Reliability</a:t>
            </a:r>
            <a:r>
              <a:rPr b="0" i="0" lang="en-US" sz="2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capacity constraint successfully prevents "zero-repair" cost-cutting solutions.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905000" y="4838700"/>
            <a:ext cx="8953500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Proactive Strategy</a:t>
            </a:r>
            <a:r>
              <a:rPr b="0" i="0" lang="en-US" sz="2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Targeted acoustic detection is significantly cheaper than passive water loss.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809750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343275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876800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485775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Findings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/>
              <a:t>Nagapurkar, P., Sharma, N., Garcia, S., and Nimbalkar, S. (2025). Evaluating Acoustic vs. AI-Based Satellite Leak Detection in Aging US Water Infrastructure: A Cost and Energy Savings Analysis. Smart Cities, 8(4), 122.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https://doi.org/10.3390/smartcities8040122</a:t>
            </a:r>
            <a:br>
              <a:rPr lang="en-US"/>
            </a:b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/>
              <a:t>Source: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dcmplumbing.com.au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/>
              <a:t>https://dcmplumbing.com.au/wp-content/uploads/2022/07/burst-pipe-underground-2.jpeg</a:t>
            </a:r>
            <a:endParaRPr/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1975" y="4019150"/>
            <a:ext cx="135255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